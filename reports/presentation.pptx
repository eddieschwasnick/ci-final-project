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3A5F"/>
                </a:solidFill>
              </a:rPr>
              <a:t>Does the Information You Give an LLM
Change the Portfolio It Builds?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1089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</a:rPr>
              <a:t>A Randomized Experiment on Information Conditioning
and LLM Allocation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</a:rPr>
              <a:t>Edward Schwasnick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40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STAT 6990  •  Causal Inference  •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April 29,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000000"/>
                </a:solidFill>
              </a:rPr>
              <a:t>•  LLMs increasingly produce structured financial recommendations.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000000"/>
                </a:solidFill>
              </a:rPr>
              <a:t>•  Vendors claim their AI analysts give better advice because of better data.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000000"/>
                </a:solidFill>
              </a:rPr>
              <a:t>•  That's a causal claim — one worth testing.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0392B"/>
                </a:solidFill>
              </a:rPr>
              <a:t>Holding model, temperature, universe, and instructions fixed,
does the information in the prompt causally change
the portfolio an LLM constructs?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555555"/>
                </a:solidFill>
              </a:rPr>
              <a:t>•  Approach: randomized 4-arm experiment where the only thing that varies across arms is the data block in the prompt.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Experimental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Stock universe: 20 U.S. large-caps across 6 sectors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Model: claude-sonnet-4-6  •  Temperature: 0.7  •  Seed: 42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30 runs per condition  =  120 API calls  •  randomized trial order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Output: JSON with weights for all 20 tickers, summing to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0"/>
            <a:ext cx="2011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C757D"/>
                </a:solidFill>
              </a:rPr>
              <a:t>Control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000000"/>
                </a:solidFill>
              </a:rPr>
              <a:t>ticker list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3200400"/>
            <a:ext cx="2011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F77B4"/>
                </a:solidFill>
              </a:rPr>
              <a:t>Fundamental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000000"/>
                </a:solidFill>
              </a:rPr>
              <a:t>+ fundamentals table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000000"/>
                </a:solidFill>
              </a:rPr>
              <a:t>(P/E, growth, leverage)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3200400"/>
            <a:ext cx="2011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CA02C"/>
                </a:solidFill>
              </a:rPr>
              <a:t>Technical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000000"/>
                </a:solidFill>
              </a:rPr>
              <a:t>+ technicals table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000000"/>
                </a:solidFill>
              </a:rPr>
              <a:t>(returns, beta, vol, 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3200400"/>
            <a:ext cx="2011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62728"/>
                </a:solidFill>
              </a:rPr>
              <a:t>Combined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000000"/>
                </a:solidFill>
              </a:rPr>
              <a:t>+ both 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555555"/>
                </a:solidFill>
              </a:rPr>
              <a:t>•  Estimand: ATE of each arm vs. control on 5 portfolio outcomes.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Outcomes and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863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HHI  =  Σ wᵢ²                             (stock-level concentration)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Sector HHI  =  Σ ( Σ_{i∈sector} wᵢ )²       (sector-level concentration)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Portfolio β  =  Σ wᵢ · βᵢ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Portfolio vol  =  Σ wᵢ · σᵢ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Breadth  =  count of wᵢ &gt;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</a:rPr>
              <a:t>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480560"/>
            <a:ext cx="7863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Primary:  Welch's t-test on diff-in-means vs. control.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Regression:  Yᵢ = α + β₁·Fund + β₂·Tech + β₃·Comb + εᵢ   (control omitted).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Placebo #1:  5,000 permutations of condition labels.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Placebo #2:  1,000 random splits within the control group.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Sensitivity:  re-estimate after trimming top/bottom HHI per condition.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Headline: Prompt Information Moves Portfolios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487680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Fundamental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/>
                        <a:t>HHI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0.059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/>
                        <a:t>Sector HHI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0.209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0.182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/>
                        <a:t>Portfolio 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0.85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/>
                        <a:t>Portfolio vol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28.5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/>
                        <a:t>Breadth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20.0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48056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Fundamental prompt  →  most concentrated,  highest β (Tech-heavy).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Technical prompt  →  most diversified,  lowest β  (momentum + defensive).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Combined  ≠  average of the two; HHI actually drops vs.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Concentration and Beta by Condition</a:t>
            </a:r>
          </a:p>
        </p:txBody>
      </p:sp>
      <p:pic>
        <p:nvPicPr>
          <p:cNvPr id="3" name="Picture 2" descr="fig1_hhi_by_cond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4297680" cy="3046615"/>
          </a:xfrm>
          <a:prstGeom prst="rect">
            <a:avLst/>
          </a:prstGeom>
        </p:spPr>
      </p:pic>
      <p:pic>
        <p:nvPicPr>
          <p:cNvPr id="4" name="Picture 3" descr="fig2_beta_by_cond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280160"/>
            <a:ext cx="4297680" cy="30466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•  Error bars are 95% CIs  •  all pairwise differences vs. control are p &lt; 0.001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Sector Allocation: The Story Is Sectoral</a:t>
            </a:r>
          </a:p>
        </p:txBody>
      </p:sp>
      <p:pic>
        <p:nvPicPr>
          <p:cNvPr id="3" name="Picture 2" descr="fig4_sector_allocation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6400800" cy="47816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•  Fundamental → Tech-heavy (NVDA, MSFT, GOOGL growth numbers drive it).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•  Technical → more balanced; Energy and Healthcare boosted by MA signals.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Treatment Effects vs. Control (95% CI)</a:t>
            </a:r>
          </a:p>
        </p:txBody>
      </p:sp>
      <p:pic>
        <p:nvPicPr>
          <p:cNvPr id="3" name="Picture 2" descr="fig7_treatment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8595360" cy="22272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9496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Every point lies well away from zero. Fundamental pushes metrics up; technical pulls beta and volatility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Diagnostics — Are the Effects Real?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5F"/>
                </a:solidFill>
              </a:rPr>
              <a:t>Permutation placebo (5,000 shuffles)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Observed effects are outside the null distribution in every case.  Empirical p-value &lt; 0.001 for 11 of 12 tests.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5F"/>
                </a:solidFill>
              </a:rPr>
              <a:t>Within-control placebo (1,000 random splits)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Rejection rates at α=0.05:  {HHI 0.058,  sector HHI 0.047,  β 0.057,  vol 0.049}.   Calibrated to nominal 5%.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5F"/>
                </a:solidFill>
              </a:rPr>
              <a:t>Trimmed-sample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Drop the top and bottom HHI observation per condition (n: 119 → 111).  All point estimates change by &lt;5%.  Every effect remains p &lt; 0.001.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0392B"/>
                </a:solidFill>
              </a:rPr>
              <a:t>The effects are not driven by noise, pipeline miscalibration, or outliers.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Discussion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Information framing is a causal driver of LLM portfolio behavior.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The combined prompt is NOT a superposition — it de-concentrates.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The tools of randomized experiments &amp; placebos carry over cleanly to LLMs.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One model (Claude Sonnet 4.6), one temperature, one snapshot of data.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Prompts differ in length as well as content — no placebo arm for length.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Breadth is a binding constraint; cannot vary across conditions by design.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No out-of-sample evaluation: studies what the LLM does, not whether it's good.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55555"/>
                </a:solidFill>
              </a:rPr>
              <a:t>Code &amp; data: github.com/eddieschwasnick/CI-Final-Project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