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79167"/>
  </p:normalViewPr>
  <p:slideViewPr>
    <p:cSldViewPr snapToGrid="0" snapToObjects="1">
      <p:cViewPr varScale="1">
        <p:scale>
          <a:sx n="101" d="100"/>
          <a:sy n="101" d="100"/>
        </p:scale>
        <p:origin x="19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40D39-A677-3649-BC73-6046EC616DE2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1FC06-D6B9-DF46-AF07-126B45F4F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9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HHI – diversification per stock</a:t>
            </a:r>
          </a:p>
          <a:p>
            <a:endParaRPr lang="en-US" dirty="0"/>
          </a:p>
          <a:p>
            <a:r>
              <a:rPr lang="en-US" dirty="0"/>
              <a:t>Sector HHI – diversification per sector</a:t>
            </a:r>
          </a:p>
          <a:p>
            <a:endParaRPr lang="en-US" dirty="0"/>
          </a:p>
          <a:p>
            <a:r>
              <a:rPr lang="en-US" dirty="0"/>
              <a:t>Portfolio Beta - measures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sensitivity to market volatility, a B &gt; 1 means the portfolio is more volatile than the market and is a more aggressive portfolio, and a B &lt; 1 means the portfolio is less volatile than the market and is more defensive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Portfolio vol (%) - This specific calculation represents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weighted average risk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individual assets, which is usually higher than the true portfolio volatility because it fails to account for the risk-reduction benefits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diversification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Breadth – measures how many different stocks are invested in on average, basically how many stocks got 0 weight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1FC06-D6B9-DF46-AF07-126B45F4F0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1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Do Information Inputs Causally Affect LLM-Generated Investment Portfolios</a:t>
            </a:r>
            <a:r>
              <a:rPr sz="3200" b="1" dirty="0">
                <a:solidFill>
                  <a:srgbClr val="1F3A5F"/>
                </a:solidFill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</a:rPr>
              <a:t>A Randomized Experiment on Information Conditioning
and LLM Allocation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Edward Schwasnick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STAT 6990  •  Causal Inference  •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April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</a:rPr>
              <a:t>•  LLMs increasingly produce structured financial recommendations.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</a:rPr>
              <a:t>•  Vendors claim their AI analysts give better advice because of better data.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00000"/>
                </a:solidFill>
              </a:rPr>
              <a:t>•  That's a causal claim — one worth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Holding model, temperature, universe, and instructions fixed,
does the information in the prompt causally change
the portfolio an LLM constructs?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555555"/>
                </a:solidFill>
              </a:rPr>
              <a:t>•  Approach: randomized 4-arm experiment where the only thing that varies across arms is the data block in the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Stock universe: 20 U.S. large-caps across 6 sectors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Model: claude-sonnet-4-6  •  Temperature: 0.7  •  Seed: 42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30 runs per condition  =  120 API calls  •  randomized trial order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Output: JSON with weights for all 20 tickers, summing to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757D"/>
                </a:solidFill>
              </a:rPr>
              <a:t>Control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</a:rPr>
              <a:t>ticker list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2004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</a:rPr>
              <a:t>Fundamental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</a:rPr>
              <a:t>+ fundamentals table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</a:rPr>
              <a:t>(P/E, growth, leverage)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2004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A02C"/>
                </a:solidFill>
              </a:rPr>
              <a:t>Technical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</a:rPr>
              <a:t>+ technicals table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</a:rPr>
              <a:t>(returns, beta, vol, 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32004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62728"/>
                </a:solidFill>
              </a:rPr>
              <a:t>Combined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</a:rPr>
              <a:t>+ both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 Estimand: ATE of each arm vs. control on 5 portfolio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Outcomes and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HHI  =  Σ wᵢ²                             (stock-level concentration)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Sector HHI  =  Σ ( Σ_{i∈sector} wᵢ )²       (sector-level concentration)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Portfolio β  =  Σ wᵢ · βᵢ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Portfolio vol  =  Σ wᵢ · σᵢ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</a:rPr>
              <a:t>•  Breadth  =  count of wᵢ &gt;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7863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Primary:  Welch's t-test on diff-in-means vs. control.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Regression:  Yᵢ = α + β₁·Fund + β₂·Tech + β₃·Comb + εᵢ   (control omitted).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Placebo #1:  5,000 permutations of condition labels.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Placebo #2:  1,000 random splits within the control group.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Sensitivity:  re-estimate after trimming top/bottom HHI per condition.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Headline: Prompt Information Moves Portfolios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Fundamental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Technical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HHI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Sector HHI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Portfolio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 dirty="0"/>
                        <a:t>Portfolio vol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Breadth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20.0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48056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Fundamental prompt  →  most concentrated,  highest β (Tech-heavy).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Technical prompt  →  most diversified,  lowest β  (momentum + defensive).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Combined  ≠  average of the two; HHI actually drops vs.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Concentration and Beta by Condition</a:t>
            </a:r>
          </a:p>
        </p:txBody>
      </p:sp>
      <p:pic>
        <p:nvPicPr>
          <p:cNvPr id="3" name="Picture 2" descr="fig1_hhi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297680" cy="3046615"/>
          </a:xfrm>
          <a:prstGeom prst="rect">
            <a:avLst/>
          </a:prstGeom>
        </p:spPr>
      </p:pic>
      <p:pic>
        <p:nvPicPr>
          <p:cNvPr id="4" name="Picture 3" descr="fig2_beta_by_cond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97680" cy="3046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•  Error bars are 95% CIs  •  all pairwise differences vs. control are p &lt; 0.001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Sector Allocation: The Story Is Sectoral</a:t>
            </a:r>
          </a:p>
        </p:txBody>
      </p:sp>
      <p:pic>
        <p:nvPicPr>
          <p:cNvPr id="3" name="Picture 2" descr="fig4_sector_allocation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4781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•  Fundamental → Tech-heavy (NVDA, MSFT, GOOGL growth numbers drive it).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•  Technical → more balanced; Energy and Healthcare boosted by MA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Treatment Effects vs. Control (95% CI)</a:t>
            </a:r>
          </a:p>
        </p:txBody>
      </p:sp>
      <p:pic>
        <p:nvPicPr>
          <p:cNvPr id="3" name="Picture 2" descr="fig7_treatment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222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949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Every point lies well away from zero. Fundamental pushes metrics up; technical pulls beta and volatility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Diagnostics — Are the Effects Real?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</a:rPr>
              <a:t>Permutation placebo (5,000 shuffles)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Observed effects are outside the null distribution in every case.  Empirical p-value &lt; 0.001 for 11 of 12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</a:rPr>
              <a:t>Within-control placebo (1,000 random splits)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Rejection rates at α=0.05:  {HHI 0.058,  sector HHI 0.047,  β 0.057,  vol 0.049}.   Calibrated to nominal 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</a:rPr>
              <a:t>Trimmed-sample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Drop the top and bottom HHI observation per condition (n: 119 → 111).  All point estimates change by &lt;5%.  Every effect remains p &lt; 0.001.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The effects are not driven by noise, pipeline miscalibration, or outliers.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Discussion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Information framing is a causal driver of LLM portfolio behavior.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The combined prompt is NOT a superposition — it de-concentrates.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</a:rPr>
              <a:t>•  The tools of randomized experiments &amp; placebos carry over cleanly to LLMs.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One model (Claude Sonnet 4.6), one temperature, one snapshot of data.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Prompts differ in length as well as content — no placebo arm for length.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Breadth is a binding constraint; cannot vary across conditions by design.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</a:rPr>
              <a:t>•  No out-of-sample evaluation: studies what the LLM does, not whether it's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</a:rPr>
              <a:t>Code &amp; data: github.com/eddieschwasnick/CI-Final-Project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Schwasnick  |  STAT 6990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925</Words>
  <Application>Microsoft Macintosh PowerPoint</Application>
  <PresentationFormat>On-screen Show (4:3)</PresentationFormat>
  <Paragraphs>117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Eddie Schwasnick</cp:lastModifiedBy>
  <cp:revision>2</cp:revision>
  <dcterms:created xsi:type="dcterms:W3CDTF">2013-01-27T09:14:16Z</dcterms:created>
  <dcterms:modified xsi:type="dcterms:W3CDTF">2026-04-21T22:49:16Z</dcterms:modified>
  <cp:category/>
</cp:coreProperties>
</file>